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9"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75757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030"/>
          <p:cNvSpPr/>
          <p:nvPr/>
        </p:nvSpPr>
        <p:spPr>
          <a:xfrm>
            <a:off x="-1" y="0"/>
            <a:ext cx="12188954"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95" name="Freeform: Shape 1032"/>
          <p:cNvSpPr/>
          <p:nvPr/>
        </p:nvSpPr>
        <p:spPr>
          <a:xfrm flipH="1" flipV="1">
            <a:off x="0" y="-1"/>
            <a:ext cx="7472382" cy="6858001"/>
          </a:xfrm>
          <a:custGeom>
            <a:avLst/>
            <a:gdLst/>
            <a:ahLst/>
            <a:cxnLst>
              <a:cxn ang="0">
                <a:pos x="wd2" y="hd2"/>
              </a:cxn>
              <a:cxn ang="5400000">
                <a:pos x="wd2" y="hd2"/>
              </a:cxn>
              <a:cxn ang="10800000">
                <a:pos x="wd2" y="hd2"/>
              </a:cxn>
              <a:cxn ang="16200000">
                <a:pos x="wd2" y="hd2"/>
              </a:cxn>
            </a:cxnLst>
            <a:rect l="0" t="0" r="r" b="b"/>
            <a:pathLst>
              <a:path w="21548" h="21600" fill="norm" stroke="1" extrusionOk="0">
                <a:moveTo>
                  <a:pt x="3555" y="0"/>
                </a:moveTo>
                <a:lnTo>
                  <a:pt x="21548" y="0"/>
                </a:lnTo>
                <a:lnTo>
                  <a:pt x="21548" y="21600"/>
                </a:lnTo>
                <a:lnTo>
                  <a:pt x="5614" y="21600"/>
                </a:lnTo>
                <a:cubicBezTo>
                  <a:pt x="5194" y="21376"/>
                  <a:pt x="4795" y="21107"/>
                  <a:pt x="4344" y="20973"/>
                </a:cubicBezTo>
                <a:cubicBezTo>
                  <a:pt x="4036" y="20883"/>
                  <a:pt x="3739" y="20726"/>
                  <a:pt x="3791" y="20256"/>
                </a:cubicBezTo>
                <a:cubicBezTo>
                  <a:pt x="3801" y="20121"/>
                  <a:pt x="3719" y="20020"/>
                  <a:pt x="3596" y="20054"/>
                </a:cubicBezTo>
                <a:cubicBezTo>
                  <a:pt x="3360" y="20121"/>
                  <a:pt x="3247" y="19931"/>
                  <a:pt x="3114" y="19785"/>
                </a:cubicBezTo>
                <a:cubicBezTo>
                  <a:pt x="2879" y="19527"/>
                  <a:pt x="2653" y="19259"/>
                  <a:pt x="2274" y="19214"/>
                </a:cubicBezTo>
                <a:cubicBezTo>
                  <a:pt x="2346" y="19012"/>
                  <a:pt x="2469" y="19034"/>
                  <a:pt x="2581" y="19079"/>
                </a:cubicBezTo>
                <a:cubicBezTo>
                  <a:pt x="2879" y="19191"/>
                  <a:pt x="3176" y="19315"/>
                  <a:pt x="3473" y="19427"/>
                </a:cubicBezTo>
                <a:cubicBezTo>
                  <a:pt x="3668" y="19494"/>
                  <a:pt x="3862" y="19595"/>
                  <a:pt x="4118" y="19516"/>
                </a:cubicBezTo>
                <a:cubicBezTo>
                  <a:pt x="3893" y="19113"/>
                  <a:pt x="3514" y="19034"/>
                  <a:pt x="3206" y="18911"/>
                </a:cubicBezTo>
                <a:cubicBezTo>
                  <a:pt x="2827" y="18754"/>
                  <a:pt x="2602" y="18463"/>
                  <a:pt x="2325" y="18127"/>
                </a:cubicBezTo>
                <a:cubicBezTo>
                  <a:pt x="2602" y="18037"/>
                  <a:pt x="2776" y="18284"/>
                  <a:pt x="3002" y="18273"/>
                </a:cubicBezTo>
                <a:cubicBezTo>
                  <a:pt x="3012" y="18239"/>
                  <a:pt x="3032" y="18172"/>
                  <a:pt x="3032" y="18172"/>
                </a:cubicBezTo>
                <a:cubicBezTo>
                  <a:pt x="2663" y="17993"/>
                  <a:pt x="2499" y="17656"/>
                  <a:pt x="2438" y="17242"/>
                </a:cubicBezTo>
                <a:cubicBezTo>
                  <a:pt x="2417" y="17029"/>
                  <a:pt x="2284" y="16962"/>
                  <a:pt x="2151" y="16861"/>
                </a:cubicBezTo>
                <a:cubicBezTo>
                  <a:pt x="1700" y="16514"/>
                  <a:pt x="1219" y="16200"/>
                  <a:pt x="839" y="15729"/>
                </a:cubicBezTo>
                <a:cubicBezTo>
                  <a:pt x="1280" y="15785"/>
                  <a:pt x="1628" y="16099"/>
                  <a:pt x="2090" y="16234"/>
                </a:cubicBezTo>
                <a:cubicBezTo>
                  <a:pt x="1721" y="15718"/>
                  <a:pt x="1239" y="15449"/>
                  <a:pt x="798" y="15136"/>
                </a:cubicBezTo>
                <a:cubicBezTo>
                  <a:pt x="594" y="14990"/>
                  <a:pt x="409" y="14811"/>
                  <a:pt x="173" y="14732"/>
                </a:cubicBezTo>
                <a:cubicBezTo>
                  <a:pt x="91" y="14710"/>
                  <a:pt x="-52" y="14654"/>
                  <a:pt x="20" y="14497"/>
                </a:cubicBezTo>
                <a:cubicBezTo>
                  <a:pt x="81" y="14363"/>
                  <a:pt x="194" y="14407"/>
                  <a:pt x="296" y="14441"/>
                </a:cubicBezTo>
                <a:cubicBezTo>
                  <a:pt x="542" y="14531"/>
                  <a:pt x="809" y="14531"/>
                  <a:pt x="1147" y="14531"/>
                </a:cubicBezTo>
                <a:cubicBezTo>
                  <a:pt x="860" y="14105"/>
                  <a:pt x="337" y="14239"/>
                  <a:pt x="91" y="13791"/>
                </a:cubicBezTo>
                <a:cubicBezTo>
                  <a:pt x="399" y="13713"/>
                  <a:pt x="635" y="13870"/>
                  <a:pt x="880" y="13903"/>
                </a:cubicBezTo>
                <a:cubicBezTo>
                  <a:pt x="1106" y="13937"/>
                  <a:pt x="1157" y="13859"/>
                  <a:pt x="1106" y="13612"/>
                </a:cubicBezTo>
                <a:cubicBezTo>
                  <a:pt x="1024" y="13231"/>
                  <a:pt x="1147" y="13041"/>
                  <a:pt x="1475" y="13141"/>
                </a:cubicBezTo>
                <a:cubicBezTo>
                  <a:pt x="1782" y="13242"/>
                  <a:pt x="1813" y="13097"/>
                  <a:pt x="1731" y="12884"/>
                </a:cubicBezTo>
                <a:cubicBezTo>
                  <a:pt x="1608" y="12570"/>
                  <a:pt x="1741" y="12324"/>
                  <a:pt x="1833" y="12055"/>
                </a:cubicBezTo>
                <a:cubicBezTo>
                  <a:pt x="1977" y="11651"/>
                  <a:pt x="1915" y="11450"/>
                  <a:pt x="1618" y="11147"/>
                </a:cubicBezTo>
                <a:cubicBezTo>
                  <a:pt x="1444" y="10979"/>
                  <a:pt x="1270" y="10834"/>
                  <a:pt x="1024" y="10688"/>
                </a:cubicBezTo>
                <a:cubicBezTo>
                  <a:pt x="1587" y="10610"/>
                  <a:pt x="1003" y="10341"/>
                  <a:pt x="1198" y="10173"/>
                </a:cubicBezTo>
                <a:cubicBezTo>
                  <a:pt x="1598" y="10105"/>
                  <a:pt x="1915" y="10643"/>
                  <a:pt x="2458" y="10486"/>
                </a:cubicBezTo>
                <a:cubicBezTo>
                  <a:pt x="1803" y="10027"/>
                  <a:pt x="1065" y="9881"/>
                  <a:pt x="583" y="9265"/>
                </a:cubicBezTo>
                <a:cubicBezTo>
                  <a:pt x="696" y="9131"/>
                  <a:pt x="809" y="9265"/>
                  <a:pt x="901" y="9209"/>
                </a:cubicBezTo>
                <a:cubicBezTo>
                  <a:pt x="901" y="9176"/>
                  <a:pt x="1977" y="9388"/>
                  <a:pt x="2038" y="8515"/>
                </a:cubicBezTo>
                <a:cubicBezTo>
                  <a:pt x="2059" y="8515"/>
                  <a:pt x="2079" y="8515"/>
                  <a:pt x="2100" y="8481"/>
                </a:cubicBezTo>
                <a:cubicBezTo>
                  <a:pt x="2213" y="8358"/>
                  <a:pt x="2110" y="8066"/>
                  <a:pt x="2294" y="8044"/>
                </a:cubicBezTo>
                <a:cubicBezTo>
                  <a:pt x="2499" y="8022"/>
                  <a:pt x="2694" y="7921"/>
                  <a:pt x="2909" y="7977"/>
                </a:cubicBezTo>
                <a:cubicBezTo>
                  <a:pt x="3073" y="8022"/>
                  <a:pt x="3247" y="8078"/>
                  <a:pt x="3422" y="8078"/>
                </a:cubicBezTo>
                <a:cubicBezTo>
                  <a:pt x="3606" y="8078"/>
                  <a:pt x="3862" y="8459"/>
                  <a:pt x="3975" y="7954"/>
                </a:cubicBezTo>
                <a:cubicBezTo>
                  <a:pt x="3975" y="7932"/>
                  <a:pt x="4293" y="7988"/>
                  <a:pt x="4467" y="8010"/>
                </a:cubicBezTo>
                <a:cubicBezTo>
                  <a:pt x="4610" y="8033"/>
                  <a:pt x="4784" y="8134"/>
                  <a:pt x="4887" y="7932"/>
                </a:cubicBezTo>
                <a:cubicBezTo>
                  <a:pt x="4938" y="7809"/>
                  <a:pt x="4692" y="7585"/>
                  <a:pt x="4477" y="7562"/>
                </a:cubicBezTo>
                <a:cubicBezTo>
                  <a:pt x="4282" y="7540"/>
                  <a:pt x="4088" y="7517"/>
                  <a:pt x="3903" y="7562"/>
                </a:cubicBezTo>
                <a:cubicBezTo>
                  <a:pt x="3678" y="7618"/>
                  <a:pt x="3555" y="7529"/>
                  <a:pt x="3493" y="7327"/>
                </a:cubicBezTo>
                <a:cubicBezTo>
                  <a:pt x="3422" y="7114"/>
                  <a:pt x="3288" y="7002"/>
                  <a:pt x="3104" y="6901"/>
                </a:cubicBezTo>
                <a:cubicBezTo>
                  <a:pt x="2653" y="6655"/>
                  <a:pt x="2223" y="6363"/>
                  <a:pt x="1731" y="6218"/>
                </a:cubicBezTo>
                <a:cubicBezTo>
                  <a:pt x="1639" y="6195"/>
                  <a:pt x="1526" y="6151"/>
                  <a:pt x="1485" y="5960"/>
                </a:cubicBezTo>
                <a:cubicBezTo>
                  <a:pt x="2817" y="6251"/>
                  <a:pt x="4026" y="7002"/>
                  <a:pt x="5399" y="6957"/>
                </a:cubicBezTo>
                <a:cubicBezTo>
                  <a:pt x="5030" y="6722"/>
                  <a:pt x="4590" y="6711"/>
                  <a:pt x="4190" y="6543"/>
                </a:cubicBezTo>
                <a:cubicBezTo>
                  <a:pt x="4477" y="6420"/>
                  <a:pt x="4743" y="6554"/>
                  <a:pt x="5010" y="6621"/>
                </a:cubicBezTo>
                <a:cubicBezTo>
                  <a:pt x="5235" y="6677"/>
                  <a:pt x="5440" y="6688"/>
                  <a:pt x="5461" y="6341"/>
                </a:cubicBezTo>
                <a:cubicBezTo>
                  <a:pt x="5461" y="6307"/>
                  <a:pt x="5461" y="6285"/>
                  <a:pt x="5461" y="6251"/>
                </a:cubicBezTo>
                <a:cubicBezTo>
                  <a:pt x="5379" y="6106"/>
                  <a:pt x="5266" y="6039"/>
                  <a:pt x="5123" y="5994"/>
                </a:cubicBezTo>
                <a:cubicBezTo>
                  <a:pt x="5041" y="5971"/>
                  <a:pt x="4928" y="5927"/>
                  <a:pt x="4928" y="5826"/>
                </a:cubicBezTo>
                <a:cubicBezTo>
                  <a:pt x="4938" y="5445"/>
                  <a:pt x="4661" y="5333"/>
                  <a:pt x="4395" y="5221"/>
                </a:cubicBezTo>
                <a:cubicBezTo>
                  <a:pt x="4539" y="5030"/>
                  <a:pt x="4661" y="5165"/>
                  <a:pt x="4774" y="5154"/>
                </a:cubicBezTo>
                <a:cubicBezTo>
                  <a:pt x="4846" y="5142"/>
                  <a:pt x="4918" y="5131"/>
                  <a:pt x="4918" y="5030"/>
                </a:cubicBezTo>
                <a:cubicBezTo>
                  <a:pt x="4918" y="4952"/>
                  <a:pt x="4887" y="4851"/>
                  <a:pt x="4815" y="4851"/>
                </a:cubicBezTo>
                <a:cubicBezTo>
                  <a:pt x="4364" y="4840"/>
                  <a:pt x="4108" y="4302"/>
                  <a:pt x="3637" y="4302"/>
                </a:cubicBezTo>
                <a:cubicBezTo>
                  <a:pt x="3350" y="4302"/>
                  <a:pt x="3780" y="4000"/>
                  <a:pt x="3545" y="3876"/>
                </a:cubicBezTo>
                <a:cubicBezTo>
                  <a:pt x="3493" y="3843"/>
                  <a:pt x="3688" y="3798"/>
                  <a:pt x="3770" y="3809"/>
                </a:cubicBezTo>
                <a:cubicBezTo>
                  <a:pt x="3852" y="3820"/>
                  <a:pt x="3924" y="3899"/>
                  <a:pt x="4026" y="3843"/>
                </a:cubicBezTo>
                <a:cubicBezTo>
                  <a:pt x="4077" y="3641"/>
                  <a:pt x="3944" y="3563"/>
                  <a:pt x="3821" y="3507"/>
                </a:cubicBezTo>
                <a:cubicBezTo>
                  <a:pt x="3555" y="3372"/>
                  <a:pt x="3288" y="3215"/>
                  <a:pt x="2991" y="3171"/>
                </a:cubicBezTo>
                <a:cubicBezTo>
                  <a:pt x="2889" y="3159"/>
                  <a:pt x="2827" y="3103"/>
                  <a:pt x="2838" y="2991"/>
                </a:cubicBezTo>
                <a:cubicBezTo>
                  <a:pt x="2858" y="2846"/>
                  <a:pt x="2961" y="2890"/>
                  <a:pt x="3042" y="2902"/>
                </a:cubicBezTo>
                <a:cubicBezTo>
                  <a:pt x="3094" y="2913"/>
                  <a:pt x="3145" y="2946"/>
                  <a:pt x="3196" y="2868"/>
                </a:cubicBezTo>
                <a:cubicBezTo>
                  <a:pt x="1997" y="2073"/>
                  <a:pt x="1362" y="2117"/>
                  <a:pt x="20" y="1468"/>
                </a:cubicBezTo>
                <a:cubicBezTo>
                  <a:pt x="317" y="1344"/>
                  <a:pt x="532" y="1434"/>
                  <a:pt x="737" y="1456"/>
                </a:cubicBezTo>
                <a:cubicBezTo>
                  <a:pt x="1249" y="1512"/>
                  <a:pt x="932" y="1613"/>
                  <a:pt x="1444" y="1680"/>
                </a:cubicBezTo>
                <a:cubicBezTo>
                  <a:pt x="1690" y="1714"/>
                  <a:pt x="1915" y="1826"/>
                  <a:pt x="2192" y="1647"/>
                </a:cubicBezTo>
                <a:cubicBezTo>
                  <a:pt x="2376" y="1524"/>
                  <a:pt x="2674" y="1658"/>
                  <a:pt x="2899" y="1759"/>
                </a:cubicBezTo>
                <a:cubicBezTo>
                  <a:pt x="3083" y="1849"/>
                  <a:pt x="3268" y="1871"/>
                  <a:pt x="3514" y="1759"/>
                </a:cubicBezTo>
                <a:cubicBezTo>
                  <a:pt x="3288" y="1692"/>
                  <a:pt x="3114" y="1636"/>
                  <a:pt x="2940" y="1591"/>
                </a:cubicBezTo>
                <a:cubicBezTo>
                  <a:pt x="2797" y="1557"/>
                  <a:pt x="2715" y="1479"/>
                  <a:pt x="2725" y="1311"/>
                </a:cubicBezTo>
                <a:cubicBezTo>
                  <a:pt x="2725" y="1221"/>
                  <a:pt x="2694" y="1098"/>
                  <a:pt x="2797" y="1053"/>
                </a:cubicBezTo>
                <a:cubicBezTo>
                  <a:pt x="2879" y="1008"/>
                  <a:pt x="2991" y="1053"/>
                  <a:pt x="3032" y="1132"/>
                </a:cubicBezTo>
                <a:cubicBezTo>
                  <a:pt x="3083" y="1277"/>
                  <a:pt x="3135" y="1412"/>
                  <a:pt x="3309" y="1423"/>
                </a:cubicBezTo>
                <a:cubicBezTo>
                  <a:pt x="3545" y="1445"/>
                  <a:pt x="3411" y="1356"/>
                  <a:pt x="3370" y="1244"/>
                </a:cubicBezTo>
                <a:cubicBezTo>
                  <a:pt x="3329" y="1120"/>
                  <a:pt x="3452" y="1087"/>
                  <a:pt x="3534" y="1109"/>
                </a:cubicBezTo>
                <a:cubicBezTo>
                  <a:pt x="3842" y="1210"/>
                  <a:pt x="4159" y="1031"/>
                  <a:pt x="4477" y="1176"/>
                </a:cubicBezTo>
                <a:cubicBezTo>
                  <a:pt x="4395" y="818"/>
                  <a:pt x="4221" y="661"/>
                  <a:pt x="3852" y="605"/>
                </a:cubicBezTo>
                <a:cubicBezTo>
                  <a:pt x="3719" y="594"/>
                  <a:pt x="3575" y="616"/>
                  <a:pt x="3452" y="515"/>
                </a:cubicBezTo>
                <a:cubicBezTo>
                  <a:pt x="3381" y="459"/>
                  <a:pt x="3309" y="392"/>
                  <a:pt x="3360" y="280"/>
                </a:cubicBezTo>
                <a:cubicBezTo>
                  <a:pt x="3391" y="202"/>
                  <a:pt x="3473" y="202"/>
                  <a:pt x="3545" y="224"/>
                </a:cubicBezTo>
                <a:cubicBezTo>
                  <a:pt x="3842" y="347"/>
                  <a:pt x="4159" y="381"/>
                  <a:pt x="4467" y="426"/>
                </a:cubicBezTo>
                <a:cubicBezTo>
                  <a:pt x="4518" y="437"/>
                  <a:pt x="4569" y="459"/>
                  <a:pt x="4620" y="347"/>
                </a:cubicBezTo>
                <a:cubicBezTo>
                  <a:pt x="4262" y="246"/>
                  <a:pt x="3913" y="112"/>
                  <a:pt x="3555" y="0"/>
                </a:cubicBezTo>
                <a:close/>
              </a:path>
            </a:pathLst>
          </a:custGeom>
          <a:solidFill>
            <a:srgbClr val="E8E8E8">
              <a:alpha val="50000"/>
            </a:srgbClr>
          </a:solidFill>
          <a:ln w="12700">
            <a:miter lim="400000"/>
          </a:ln>
        </p:spPr>
        <p:txBody>
          <a:bodyPr lIns="45719" rIns="45719" anchor="ctr"/>
          <a:lstStyle/>
          <a:p>
            <a:pPr/>
          </a:p>
        </p:txBody>
      </p:sp>
      <p:sp>
        <p:nvSpPr>
          <p:cNvPr id="96" name="Title 1"/>
          <p:cNvSpPr txBox="1"/>
          <p:nvPr>
            <p:ph type="ctrTitle"/>
          </p:nvPr>
        </p:nvSpPr>
        <p:spPr>
          <a:xfrm>
            <a:off x="643467" y="813873"/>
            <a:ext cx="10078437" cy="2615127"/>
          </a:xfrm>
          <a:prstGeom prst="rect">
            <a:avLst/>
          </a:prstGeom>
        </p:spPr>
        <p:txBody>
          <a:bodyPr anchor="ctr"/>
          <a:lstStyle/>
          <a:p>
            <a:pPr>
              <a:defRPr b="1" cap="all" spc="100" sz="3000" u="sng">
                <a:solidFill>
                  <a:srgbClr val="163E64"/>
                </a:solidFill>
              </a:defRPr>
            </a:pPr>
            <a:r>
              <a:t>University of North Texas</a:t>
            </a:r>
            <a:br/>
            <a:r>
              <a:t>Business Analytics Hackathon </a:t>
            </a:r>
            <a:br/>
            <a:br/>
            <a:r>
              <a:t>Multivariate Insights into Vehicle Attributes and Warranty Claims</a:t>
            </a:r>
            <a:br/>
          </a:p>
        </p:txBody>
      </p:sp>
      <p:pic>
        <p:nvPicPr>
          <p:cNvPr id="97" name="Picture 3" descr="Picture 3"/>
          <p:cNvPicPr>
            <a:picLocks noChangeAspect="1"/>
          </p:cNvPicPr>
          <p:nvPr/>
        </p:nvPicPr>
        <p:blipFill>
          <a:blip r:embed="rId2">
            <a:extLst/>
          </a:blip>
          <a:stretch>
            <a:fillRect/>
          </a:stretch>
        </p:blipFill>
        <p:spPr>
          <a:xfrm>
            <a:off x="6559656" y="3244312"/>
            <a:ext cx="5052449" cy="3404462"/>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Title 1"/>
          <p:cNvSpPr txBox="1"/>
          <p:nvPr>
            <p:ph type="title"/>
          </p:nvPr>
        </p:nvSpPr>
        <p:spPr>
          <a:xfrm>
            <a:off x="2418558" y="537262"/>
            <a:ext cx="6268227" cy="731973"/>
          </a:xfrm>
          <a:prstGeom prst="rect">
            <a:avLst/>
          </a:prstGeom>
        </p:spPr>
        <p:txBody>
          <a:bodyPr/>
          <a:lstStyle>
            <a:lvl1pPr algn="ctr">
              <a:defRPr sz="4000" u="sng">
                <a:solidFill>
                  <a:srgbClr val="104862"/>
                </a:solidFill>
                <a:latin typeface="Times New Roman"/>
                <a:ea typeface="Times New Roman"/>
                <a:cs typeface="Times New Roman"/>
                <a:sym typeface="Times New Roman"/>
              </a:defRPr>
            </a:lvl1pPr>
          </a:lstStyle>
          <a:p>
            <a:pPr/>
            <a:r>
              <a:t>Problem Statement</a:t>
            </a:r>
          </a:p>
        </p:txBody>
      </p:sp>
      <p:sp>
        <p:nvSpPr>
          <p:cNvPr id="100" name="Content Placeholder 42"/>
          <p:cNvSpPr txBox="1"/>
          <p:nvPr>
            <p:ph type="body" idx="1"/>
          </p:nvPr>
        </p:nvSpPr>
        <p:spPr>
          <a:xfrm>
            <a:off x="838200" y="1825625"/>
            <a:ext cx="10515600" cy="4351338"/>
          </a:xfrm>
          <a:prstGeom prst="rect">
            <a:avLst/>
          </a:prstGeom>
        </p:spPr>
        <p:txBody>
          <a:bodyPr/>
          <a:lstStyle/>
          <a:p>
            <a:pPr marL="0" indent="0" algn="just">
              <a:buSzTx/>
              <a:buNone/>
              <a:defRPr sz="2000">
                <a:latin typeface="Times New Roman"/>
                <a:ea typeface="Times New Roman"/>
                <a:cs typeface="Times New Roman"/>
                <a:sym typeface="Times New Roman"/>
              </a:defRPr>
            </a:pPr>
            <a:r>
              <a:t>Understanding warranty costs is vital for Peterbilt Motor Company as these costs have significant financial and operational implications. High warranty claims can erode profit margins, especially for a company that offers a wide range of customizable truck configurations. By identifying which vehicle attributes or combinations of attributes contribute to higher warranty costs, Peterbilt can make more informed decisions on vehicle design, improve product reliability, and ultimately reduce the financial burden of warranty claims, enhancing both profitability and customer loyalty. </a:t>
            </a:r>
          </a:p>
          <a:p>
            <a:pPr marL="0" indent="0" algn="just">
              <a:buSzTx/>
              <a:buNone/>
              <a:defRPr sz="2000">
                <a:latin typeface="Times New Roman"/>
                <a:ea typeface="Times New Roman"/>
                <a:cs typeface="Times New Roman"/>
                <a:sym typeface="Times New Roman"/>
              </a:defRPr>
            </a:pPr>
          </a:p>
          <a:p>
            <a:pPr marL="0" indent="0" algn="just">
              <a:buSzTx/>
              <a:buNone/>
              <a:defRPr sz="2000">
                <a:latin typeface="Times New Roman"/>
                <a:ea typeface="Times New Roman"/>
                <a:cs typeface="Times New Roman"/>
                <a:sym typeface="Times New Roman"/>
              </a:defRPr>
            </a:pPr>
            <a:r>
              <a:t>We are addressing the below three problem statements.</a:t>
            </a:r>
          </a:p>
          <a:p>
            <a:pPr marL="0" indent="0" algn="just">
              <a:buSzTx/>
              <a:buNone/>
              <a:defRPr sz="2000">
                <a:latin typeface="Times New Roman"/>
                <a:ea typeface="Times New Roman"/>
                <a:cs typeface="Times New Roman"/>
                <a:sym typeface="Times New Roman"/>
              </a:defRPr>
            </a:pPr>
            <a:r>
              <a:t>1. Which individual attributes or option codes are significantly associated with increased warranty costs?</a:t>
            </a:r>
          </a:p>
          <a:p>
            <a:pPr marL="0" indent="0" algn="just">
              <a:buSzTx/>
              <a:buNone/>
              <a:defRPr sz="2000">
                <a:latin typeface="Times New Roman"/>
                <a:ea typeface="Times New Roman"/>
                <a:cs typeface="Times New Roman"/>
                <a:sym typeface="Times New Roman"/>
              </a:defRPr>
            </a:pPr>
            <a:r>
              <a:t>2. Are there specific pairs of attributes that interact in a way that exacerbates warranty claims?</a:t>
            </a:r>
          </a:p>
          <a:p>
            <a:pPr marL="0" indent="0" algn="just">
              <a:buSzTx/>
              <a:buNone/>
              <a:defRPr sz="2000">
                <a:latin typeface="Times New Roman"/>
                <a:ea typeface="Times New Roman"/>
                <a:cs typeface="Times New Roman"/>
                <a:sym typeface="Times New Roman"/>
              </a:defRPr>
            </a:pPr>
            <a:r>
              <a:t>3. What modeling approaches can effectively quantify these relationships and offer predictive insights for future vehicle configurations?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Title 1"/>
          <p:cNvSpPr txBox="1"/>
          <p:nvPr/>
        </p:nvSpPr>
        <p:spPr>
          <a:xfrm>
            <a:off x="1296479" y="326015"/>
            <a:ext cx="9590901" cy="120612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90000"/>
              </a:lnSpc>
              <a:defRPr sz="4000" u="sng">
                <a:solidFill>
                  <a:srgbClr val="104862"/>
                </a:solidFill>
                <a:latin typeface="Times New Roman"/>
                <a:ea typeface="Times New Roman"/>
                <a:cs typeface="Times New Roman"/>
                <a:sym typeface="Times New Roman"/>
              </a:defRPr>
            </a:pPr>
            <a:r>
              <a:t>Individual attributes impact on increased warranty costs</a:t>
            </a:r>
            <a:r>
              <a:rPr>
                <a:solidFill>
                  <a:srgbClr val="FFFFFF"/>
                </a:solidFill>
              </a:rPr>
              <a:t> </a:t>
            </a:r>
          </a:p>
        </p:txBody>
      </p:sp>
      <p:grpSp>
        <p:nvGrpSpPr>
          <p:cNvPr id="105" name="Oval 5"/>
          <p:cNvGrpSpPr/>
          <p:nvPr/>
        </p:nvGrpSpPr>
        <p:grpSpPr>
          <a:xfrm>
            <a:off x="1655529" y="2346198"/>
            <a:ext cx="3853653" cy="3543687"/>
            <a:chOff x="0" y="0"/>
            <a:chExt cx="3853651" cy="3543686"/>
          </a:xfrm>
        </p:grpSpPr>
        <p:sp>
          <p:nvSpPr>
            <p:cNvPr id="103" name="Oval"/>
            <p:cNvSpPr/>
            <p:nvPr/>
          </p:nvSpPr>
          <p:spPr>
            <a:xfrm>
              <a:off x="0" y="-1"/>
              <a:ext cx="3853652" cy="3543688"/>
            </a:xfrm>
            <a:prstGeom prst="ellipse">
              <a:avLst/>
            </a:prstGeom>
            <a:solidFill>
              <a:srgbClr val="ECF786"/>
            </a:solidFill>
            <a:ln w="19050" cap="flat">
              <a:solidFill>
                <a:srgbClr val="092937"/>
              </a:solidFill>
              <a:prstDash val="solid"/>
              <a:miter lim="800000"/>
            </a:ln>
            <a:effectLst/>
          </p:spPr>
          <p:txBody>
            <a:bodyPr wrap="square" lIns="45719" tIns="45719" rIns="45719" bIns="45719" numCol="1" anchor="ctr">
              <a:noAutofit/>
            </a:bodyPr>
            <a:lstStyle/>
            <a:p>
              <a:pPr algn="ctr">
                <a:defRPr sz="2000">
                  <a:solidFill>
                    <a:srgbClr val="0E2841"/>
                  </a:solidFill>
                </a:defRPr>
              </a:pPr>
            </a:p>
          </p:txBody>
        </p:sp>
        <p:sp>
          <p:nvSpPr>
            <p:cNvPr id="104" name="Problem…"/>
            <p:cNvSpPr txBox="1"/>
            <p:nvPr/>
          </p:nvSpPr>
          <p:spPr>
            <a:xfrm>
              <a:off x="619599" y="582168"/>
              <a:ext cx="2614454" cy="23793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3200" u="sng">
                  <a:solidFill>
                    <a:srgbClr val="0E2841"/>
                  </a:solidFill>
                  <a:latin typeface="Times New Roman"/>
                  <a:ea typeface="Times New Roman"/>
                  <a:cs typeface="Times New Roman"/>
                  <a:sym typeface="Times New Roman"/>
                </a:defRPr>
              </a:pPr>
              <a:r>
                <a:t>Problem</a:t>
              </a:r>
              <a:endParaRPr>
                <a:solidFill>
                  <a:srgbClr val="FFFFFF"/>
                </a:solidFill>
              </a:endParaRPr>
            </a:p>
            <a:p>
              <a:pPr algn="ctr">
                <a:defRPr b="1" sz="600">
                  <a:solidFill>
                    <a:srgbClr val="0E2841"/>
                  </a:solidFill>
                  <a:latin typeface="Times New Roman"/>
                  <a:ea typeface="Times New Roman"/>
                  <a:cs typeface="Times New Roman"/>
                  <a:sym typeface="Times New Roman"/>
                </a:defRPr>
              </a:pPr>
            </a:p>
            <a:p>
              <a:pPr algn="ctr">
                <a:defRPr sz="2000">
                  <a:solidFill>
                    <a:srgbClr val="0E2841"/>
                  </a:solidFill>
                  <a:latin typeface="Times New Roman"/>
                  <a:ea typeface="Times New Roman"/>
                  <a:cs typeface="Times New Roman"/>
                  <a:sym typeface="Times New Roman"/>
                </a:defRPr>
              </a:pPr>
              <a:r>
                <a:t>Which individual attributes or option codes are significantly associated with increased warranty costs?</a:t>
              </a:r>
            </a:p>
          </p:txBody>
        </p:sp>
      </p:grpSp>
      <p:grpSp>
        <p:nvGrpSpPr>
          <p:cNvPr id="108" name="Oval 8"/>
          <p:cNvGrpSpPr/>
          <p:nvPr/>
        </p:nvGrpSpPr>
        <p:grpSpPr>
          <a:xfrm>
            <a:off x="6718309" y="2346196"/>
            <a:ext cx="3853653" cy="3543687"/>
            <a:chOff x="0" y="0"/>
            <a:chExt cx="3853651" cy="3543686"/>
          </a:xfrm>
        </p:grpSpPr>
        <p:sp>
          <p:nvSpPr>
            <p:cNvPr id="106" name="Oval"/>
            <p:cNvSpPr/>
            <p:nvPr/>
          </p:nvSpPr>
          <p:spPr>
            <a:xfrm>
              <a:off x="0" y="-1"/>
              <a:ext cx="3853652" cy="3543688"/>
            </a:xfrm>
            <a:prstGeom prst="ellipse">
              <a:avLst/>
            </a:prstGeom>
            <a:solidFill>
              <a:srgbClr val="84E291"/>
            </a:solidFill>
            <a:ln w="19050" cap="flat">
              <a:solidFill>
                <a:srgbClr val="092937"/>
              </a:solidFill>
              <a:prstDash val="solid"/>
              <a:miter lim="800000"/>
            </a:ln>
            <a:effectLst/>
          </p:spPr>
          <p:txBody>
            <a:bodyPr wrap="square" lIns="45719" tIns="45719" rIns="45719" bIns="45719" numCol="1" anchor="t">
              <a:noAutofit/>
            </a:bodyPr>
            <a:lstStyle/>
            <a:p>
              <a:pPr algn="ctr">
                <a:defRPr sz="4000">
                  <a:solidFill>
                    <a:srgbClr val="FFFFFF"/>
                  </a:solidFill>
                  <a:latin typeface="Times New Roman"/>
                  <a:ea typeface="Times New Roman"/>
                  <a:cs typeface="Times New Roman"/>
                  <a:sym typeface="Times New Roman"/>
                </a:defRPr>
              </a:pPr>
            </a:p>
          </p:txBody>
        </p:sp>
        <p:sp>
          <p:nvSpPr>
            <p:cNvPr id="107" name="Solution"/>
            <p:cNvSpPr txBox="1"/>
            <p:nvPr/>
          </p:nvSpPr>
          <p:spPr>
            <a:xfrm>
              <a:off x="619599" y="528485"/>
              <a:ext cx="2614454" cy="11366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u="sng">
                  <a:solidFill>
                    <a:srgbClr val="0E2841"/>
                  </a:solidFill>
                  <a:latin typeface="Times New Roman"/>
                  <a:ea typeface="Times New Roman"/>
                  <a:cs typeface="Times New Roman"/>
                  <a:sym typeface="Times New Roman"/>
                </a:defRPr>
              </a:lvl1pPr>
            </a:lstStyle>
            <a:p>
              <a:pPr/>
              <a:r>
                <a:t>Solution</a:t>
              </a:r>
              <a:endParaRPr>
                <a:solidFill>
                  <a:srgbClr val="FFFFFF"/>
                </a:solidFill>
              </a:endParaRPr>
            </a:p>
          </p:txBody>
        </p:sp>
      </p:grpSp>
      <p:graphicFrame>
        <p:nvGraphicFramePr>
          <p:cNvPr id="109" name="Table 10"/>
          <p:cNvGraphicFramePr/>
          <p:nvPr/>
        </p:nvGraphicFramePr>
        <p:xfrm>
          <a:off x="6907845" y="3559628"/>
          <a:ext cx="3474578" cy="1706443"/>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012927"/>
                <a:gridCol w="1166044"/>
                <a:gridCol w="1295606"/>
              </a:tblGrid>
              <a:tr h="274600">
                <a:tc>
                  <a:txBody>
                    <a:bodyPr/>
                    <a:lstStyle/>
                    <a:p>
                      <a:pPr algn="ctr">
                        <a:lnSpc>
                          <a:spcPts val="1300"/>
                        </a:lnSpc>
                        <a:defRPr b="1" sz="1800">
                          <a:latin typeface="Times New Roman"/>
                          <a:ea typeface="Times New Roman"/>
                          <a:cs typeface="Times New Roman"/>
                          <a:sym typeface="Times New Roman"/>
                        </a:defRPr>
                      </a:pPr>
                      <a:r>
                        <a:t>Rank</a:t>
                      </a:r>
                      <a:r>
                        <a:rPr b="0"/>
                        <a:t>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b="1">
                          <a:latin typeface="Times New Roman"/>
                          <a:ea typeface="Times New Roman"/>
                          <a:cs typeface="Times New Roman"/>
                          <a:sym typeface="Times New Roman"/>
                        </a:rPr>
                        <a:t>Attribute</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b="1" sz="1800">
                          <a:latin typeface="Times New Roman"/>
                          <a:ea typeface="Times New Roman"/>
                          <a:cs typeface="Times New Roman"/>
                          <a:sym typeface="Times New Roman"/>
                        </a:defRPr>
                      </a:pPr>
                      <a:r>
                        <a:t>Options</a:t>
                      </a:r>
                      <a:r>
                        <a:rPr b="0"/>
                        <a:t> </a:t>
                      </a:r>
                    </a:p>
                  </a:txBody>
                  <a:tcPr marL="45720" marR="45720" marT="45720" marB="45720" anchor="ctr" anchorCtr="0" horzOverflow="overflow">
                    <a:lnL w="12700">
                      <a:miter lim="400000"/>
                    </a:lnL>
                    <a:lnR w="12700">
                      <a:miter lim="400000"/>
                    </a:lnR>
                    <a:lnT w="12700">
                      <a:miter lim="400000"/>
                    </a:lnT>
                    <a:lnB w="12700">
                      <a:miter lim="400000"/>
                    </a:lnB>
                    <a:noFill/>
                  </a:tcPr>
                </a:tc>
              </a:tr>
              <a:tr h="274600">
                <a:tc>
                  <a:txBody>
                    <a:bodyPr/>
                    <a:lstStyle/>
                    <a:p>
                      <a:pPr algn="ctr">
                        <a:lnSpc>
                          <a:spcPts val="1300"/>
                        </a:lnSpc>
                        <a:defRPr sz="1800"/>
                      </a:pPr>
                      <a:r>
                        <a:rPr>
                          <a:latin typeface="Times New Roman"/>
                          <a:ea typeface="Times New Roman"/>
                          <a:cs typeface="Times New Roman"/>
                          <a:sym typeface="Times New Roman"/>
                        </a:rPr>
                        <a:t>1 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b="1">
                          <a:latin typeface="Times New Roman"/>
                          <a:ea typeface="Times New Roman"/>
                          <a:cs typeface="Times New Roman"/>
                          <a:sym typeface="Times New Roman"/>
                        </a:rPr>
                        <a:t>7 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a:latin typeface="Times New Roman"/>
                          <a:ea typeface="Times New Roman"/>
                          <a:cs typeface="Times New Roman"/>
                          <a:sym typeface="Times New Roman"/>
                        </a:rPr>
                        <a:t>290 </a:t>
                      </a:r>
                    </a:p>
                  </a:txBody>
                  <a:tcPr marL="45720" marR="45720" marT="45720" marB="45720" anchor="ctr" anchorCtr="0" horzOverflow="overflow">
                    <a:lnL w="12700">
                      <a:miter lim="400000"/>
                    </a:lnL>
                    <a:lnR w="12700">
                      <a:miter lim="400000"/>
                    </a:lnR>
                    <a:lnT w="12700">
                      <a:miter lim="400000"/>
                    </a:lnT>
                    <a:lnB w="12700">
                      <a:miter lim="400000"/>
                    </a:lnB>
                    <a:noFill/>
                  </a:tcPr>
                </a:tc>
              </a:tr>
              <a:tr h="392285">
                <a:tc>
                  <a:txBody>
                    <a:bodyPr/>
                    <a:lstStyle/>
                    <a:p>
                      <a:pPr algn="ctr">
                        <a:lnSpc>
                          <a:spcPts val="1300"/>
                        </a:lnSpc>
                        <a:defRPr sz="1800"/>
                      </a:pPr>
                      <a:r>
                        <a:rPr>
                          <a:latin typeface="Times New Roman"/>
                          <a:ea typeface="Times New Roman"/>
                          <a:cs typeface="Times New Roman"/>
                          <a:sym typeface="Times New Roman"/>
                        </a:rPr>
                        <a:t>2 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b="1">
                          <a:latin typeface="Times New Roman"/>
                          <a:ea typeface="Times New Roman"/>
                          <a:cs typeface="Times New Roman"/>
                          <a:sym typeface="Times New Roman"/>
                        </a:rPr>
                        <a:t>6 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a:latin typeface="Times New Roman"/>
                          <a:ea typeface="Times New Roman"/>
                          <a:cs typeface="Times New Roman"/>
                          <a:sym typeface="Times New Roman"/>
                        </a:rPr>
                        <a:t>281 </a:t>
                      </a:r>
                    </a:p>
                  </a:txBody>
                  <a:tcPr marL="45720" marR="45720" marT="45720" marB="45720" anchor="ctr" anchorCtr="0" horzOverflow="overflow">
                    <a:lnL w="12700">
                      <a:miter lim="400000"/>
                    </a:lnL>
                    <a:lnR w="12700">
                      <a:miter lim="400000"/>
                    </a:lnR>
                    <a:lnT w="12700">
                      <a:miter lim="400000"/>
                    </a:lnT>
                    <a:lnB w="12700">
                      <a:miter lim="400000"/>
                    </a:lnB>
                    <a:noFill/>
                  </a:tcPr>
                </a:tc>
              </a:tr>
              <a:tr h="392285">
                <a:tc>
                  <a:txBody>
                    <a:bodyPr/>
                    <a:lstStyle/>
                    <a:p>
                      <a:pPr algn="ctr">
                        <a:lnSpc>
                          <a:spcPts val="1300"/>
                        </a:lnSpc>
                        <a:defRPr sz="1800"/>
                      </a:pPr>
                      <a:r>
                        <a:rPr>
                          <a:latin typeface="Times New Roman"/>
                          <a:ea typeface="Times New Roman"/>
                          <a:cs typeface="Times New Roman"/>
                          <a:sym typeface="Times New Roman"/>
                        </a:rPr>
                        <a:t>3 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b="1">
                          <a:latin typeface="Times New Roman"/>
                          <a:ea typeface="Times New Roman"/>
                          <a:cs typeface="Times New Roman"/>
                          <a:sym typeface="Times New Roman"/>
                        </a:rPr>
                        <a:t>2 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a:latin typeface="Times New Roman"/>
                          <a:ea typeface="Times New Roman"/>
                          <a:cs typeface="Times New Roman"/>
                          <a:sym typeface="Times New Roman"/>
                        </a:rPr>
                        <a:t>83,158 </a:t>
                      </a:r>
                    </a:p>
                  </a:txBody>
                  <a:tcPr marL="45720" marR="45720" marT="45720" marB="45720" anchor="ctr" anchorCtr="0" horzOverflow="overflow">
                    <a:lnL w="12700">
                      <a:miter lim="400000"/>
                    </a:lnL>
                    <a:lnR w="12700">
                      <a:miter lim="400000"/>
                    </a:lnR>
                    <a:lnT w="12700">
                      <a:miter lim="400000"/>
                    </a:lnT>
                    <a:lnB w="12700">
                      <a:miter lim="400000"/>
                    </a:lnB>
                    <a:noFill/>
                  </a:tcPr>
                </a:tc>
              </a:tr>
              <a:tr h="372672">
                <a:tc>
                  <a:txBody>
                    <a:bodyPr/>
                    <a:lstStyle/>
                    <a:p>
                      <a:pPr algn="ctr">
                        <a:lnSpc>
                          <a:spcPts val="1300"/>
                        </a:lnSpc>
                        <a:defRPr sz="1800"/>
                      </a:pPr>
                      <a:r>
                        <a:rPr>
                          <a:latin typeface="Times New Roman"/>
                          <a:ea typeface="Times New Roman"/>
                          <a:cs typeface="Times New Roman"/>
                          <a:sym typeface="Times New Roman"/>
                        </a:rPr>
                        <a:t>4 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b="1">
                          <a:latin typeface="Times New Roman"/>
                          <a:ea typeface="Times New Roman"/>
                          <a:cs typeface="Times New Roman"/>
                          <a:sym typeface="Times New Roman"/>
                        </a:rPr>
                        <a:t>1 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a:latin typeface="Times New Roman"/>
                          <a:ea typeface="Times New Roman"/>
                          <a:cs typeface="Times New Roman"/>
                          <a:sym typeface="Times New Roman"/>
                        </a:rPr>
                        <a:t>1,60 </a:t>
                      </a:r>
                    </a:p>
                  </a:txBody>
                  <a:tcPr marL="45720" marR="45720" marT="45720" marB="45720" anchor="ctr" anchorCtr="0" horzOverflow="overflow">
                    <a:lnL w="12700">
                      <a:miter lim="400000"/>
                    </a:lnL>
                    <a:lnR w="12700">
                      <a:miter lim="400000"/>
                    </a:lnR>
                    <a:lnT w="12700">
                      <a:miter lim="400000"/>
                    </a:lnT>
                    <a:lnB w="12700">
                      <a:miter lim="400000"/>
                    </a:lnB>
                    <a:no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Title 1"/>
          <p:cNvSpPr txBox="1"/>
          <p:nvPr/>
        </p:nvSpPr>
        <p:spPr>
          <a:xfrm>
            <a:off x="896105" y="300184"/>
            <a:ext cx="10417480" cy="120612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90000"/>
              </a:lnSpc>
              <a:defRPr sz="4000" u="sng">
                <a:solidFill>
                  <a:srgbClr val="104862"/>
                </a:solidFill>
                <a:latin typeface="Times New Roman"/>
                <a:ea typeface="Times New Roman"/>
                <a:cs typeface="Times New Roman"/>
                <a:sym typeface="Times New Roman"/>
              </a:defRPr>
            </a:lvl1pPr>
          </a:lstStyle>
          <a:p>
            <a:pPr/>
            <a:r>
              <a:t>Specific Attribute Pairs that Amplify Warranty Claims</a:t>
            </a:r>
          </a:p>
        </p:txBody>
      </p:sp>
      <p:grpSp>
        <p:nvGrpSpPr>
          <p:cNvPr id="114" name="Oval 9"/>
          <p:cNvGrpSpPr/>
          <p:nvPr/>
        </p:nvGrpSpPr>
        <p:grpSpPr>
          <a:xfrm>
            <a:off x="1655529" y="2346198"/>
            <a:ext cx="3853653" cy="3543687"/>
            <a:chOff x="0" y="0"/>
            <a:chExt cx="3853651" cy="3543686"/>
          </a:xfrm>
        </p:grpSpPr>
        <p:sp>
          <p:nvSpPr>
            <p:cNvPr id="112" name="Oval"/>
            <p:cNvSpPr/>
            <p:nvPr/>
          </p:nvSpPr>
          <p:spPr>
            <a:xfrm>
              <a:off x="0" y="-1"/>
              <a:ext cx="3853652" cy="3543688"/>
            </a:xfrm>
            <a:prstGeom prst="ellipse">
              <a:avLst/>
            </a:prstGeom>
            <a:solidFill>
              <a:srgbClr val="ECF786"/>
            </a:solidFill>
            <a:ln w="19050" cap="flat">
              <a:solidFill>
                <a:srgbClr val="092937"/>
              </a:solidFill>
              <a:prstDash val="solid"/>
              <a:miter lim="800000"/>
            </a:ln>
            <a:effectLst/>
          </p:spPr>
          <p:txBody>
            <a:bodyPr wrap="square" lIns="45719" tIns="45719" rIns="45719" bIns="45719" numCol="1" anchor="ctr">
              <a:noAutofit/>
            </a:bodyPr>
            <a:lstStyle/>
            <a:p>
              <a:pPr algn="ctr">
                <a:defRPr sz="2000">
                  <a:latin typeface="Times New Roman"/>
                  <a:ea typeface="Times New Roman"/>
                  <a:cs typeface="Times New Roman"/>
                  <a:sym typeface="Times New Roman"/>
                </a:defRPr>
              </a:pPr>
            </a:p>
          </p:txBody>
        </p:sp>
        <p:sp>
          <p:nvSpPr>
            <p:cNvPr id="113" name="Problem…"/>
            <p:cNvSpPr txBox="1"/>
            <p:nvPr/>
          </p:nvSpPr>
          <p:spPr>
            <a:xfrm>
              <a:off x="619599" y="728218"/>
              <a:ext cx="2614454" cy="2087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3200" u="sng">
                  <a:solidFill>
                    <a:srgbClr val="0E2841"/>
                  </a:solidFill>
                  <a:latin typeface="Times New Roman"/>
                  <a:ea typeface="Times New Roman"/>
                  <a:cs typeface="Times New Roman"/>
                  <a:sym typeface="Times New Roman"/>
                </a:defRPr>
              </a:pPr>
              <a:r>
                <a:t>Problem</a:t>
              </a:r>
              <a:endParaRPr>
                <a:solidFill>
                  <a:srgbClr val="FFFFFF"/>
                </a:solidFill>
              </a:endParaRPr>
            </a:p>
            <a:p>
              <a:pPr algn="ctr">
                <a:defRPr b="1" sz="600">
                  <a:solidFill>
                    <a:srgbClr val="0E2841"/>
                  </a:solidFill>
                  <a:latin typeface="Times New Roman"/>
                  <a:ea typeface="Times New Roman"/>
                  <a:cs typeface="Times New Roman"/>
                  <a:sym typeface="Times New Roman"/>
                </a:defRPr>
              </a:pPr>
            </a:p>
            <a:p>
              <a:pPr algn="ctr">
                <a:defRPr sz="2000">
                  <a:latin typeface="Times New Roman"/>
                  <a:ea typeface="Times New Roman"/>
                  <a:cs typeface="Times New Roman"/>
                  <a:sym typeface="Times New Roman"/>
                </a:defRPr>
              </a:pPr>
              <a:r>
                <a:t>Are there specific pairs of attributes that interact in a way that exacerbates warranty claims?</a:t>
              </a:r>
            </a:p>
          </p:txBody>
        </p:sp>
      </p:grpSp>
      <p:grpSp>
        <p:nvGrpSpPr>
          <p:cNvPr id="117" name="Oval 11"/>
          <p:cNvGrpSpPr/>
          <p:nvPr/>
        </p:nvGrpSpPr>
        <p:grpSpPr>
          <a:xfrm>
            <a:off x="6718309" y="2346196"/>
            <a:ext cx="3853653" cy="3543687"/>
            <a:chOff x="0" y="0"/>
            <a:chExt cx="3853651" cy="3543686"/>
          </a:xfrm>
        </p:grpSpPr>
        <p:sp>
          <p:nvSpPr>
            <p:cNvPr id="115" name="Oval"/>
            <p:cNvSpPr/>
            <p:nvPr/>
          </p:nvSpPr>
          <p:spPr>
            <a:xfrm>
              <a:off x="0" y="-1"/>
              <a:ext cx="3853652" cy="3543688"/>
            </a:xfrm>
            <a:prstGeom prst="ellipse">
              <a:avLst/>
            </a:prstGeom>
            <a:solidFill>
              <a:srgbClr val="84E291"/>
            </a:solidFill>
            <a:ln w="19050" cap="flat">
              <a:solidFill>
                <a:srgbClr val="092937"/>
              </a:solidFill>
              <a:prstDash val="solid"/>
              <a:miter lim="800000"/>
            </a:ln>
            <a:effectLst/>
          </p:spPr>
          <p:txBody>
            <a:bodyPr wrap="square" lIns="45719" tIns="45719" rIns="45719" bIns="45719" numCol="1" anchor="t">
              <a:noAutofit/>
            </a:bodyPr>
            <a:lstStyle/>
            <a:p>
              <a:pPr algn="ctr">
                <a:defRPr sz="4000">
                  <a:solidFill>
                    <a:srgbClr val="FFFFFF"/>
                  </a:solidFill>
                  <a:latin typeface="Times New Roman"/>
                  <a:ea typeface="Times New Roman"/>
                  <a:cs typeface="Times New Roman"/>
                  <a:sym typeface="Times New Roman"/>
                </a:defRPr>
              </a:pPr>
            </a:p>
          </p:txBody>
        </p:sp>
        <p:sp>
          <p:nvSpPr>
            <p:cNvPr id="116" name="Solution"/>
            <p:cNvSpPr txBox="1"/>
            <p:nvPr/>
          </p:nvSpPr>
          <p:spPr>
            <a:xfrm>
              <a:off x="619599" y="528485"/>
              <a:ext cx="2614454" cy="11366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u="sng">
                  <a:solidFill>
                    <a:srgbClr val="0E2841"/>
                  </a:solidFill>
                  <a:latin typeface="Times New Roman"/>
                  <a:ea typeface="Times New Roman"/>
                  <a:cs typeface="Times New Roman"/>
                  <a:sym typeface="Times New Roman"/>
                </a:defRPr>
              </a:lvl1pPr>
            </a:lstStyle>
            <a:p>
              <a:pPr/>
              <a:r>
                <a:t>Solution</a:t>
              </a:r>
              <a:endParaRPr>
                <a:solidFill>
                  <a:srgbClr val="FFFFFF"/>
                </a:solidFill>
              </a:endParaRPr>
            </a:p>
          </p:txBody>
        </p:sp>
      </p:grpSp>
      <p:graphicFrame>
        <p:nvGraphicFramePr>
          <p:cNvPr id="118" name="Table 15"/>
          <p:cNvGraphicFramePr/>
          <p:nvPr/>
        </p:nvGraphicFramePr>
        <p:xfrm>
          <a:off x="7286625" y="3773197"/>
          <a:ext cx="2696058" cy="1184869"/>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205345"/>
                <a:gridCol w="1490713"/>
              </a:tblGrid>
              <a:tr h="441422">
                <a:tc>
                  <a:txBody>
                    <a:bodyPr/>
                    <a:lstStyle/>
                    <a:p>
                      <a:pPr algn="ctr">
                        <a:lnSpc>
                          <a:spcPts val="1300"/>
                        </a:lnSpc>
                        <a:defRPr b="1" sz="2000">
                          <a:latin typeface="Times New Roman"/>
                          <a:ea typeface="Times New Roman"/>
                          <a:cs typeface="Times New Roman"/>
                          <a:sym typeface="Times New Roman"/>
                        </a:defRPr>
                      </a:pPr>
                      <a:r>
                        <a:t>Rank</a:t>
                      </a:r>
                      <a:r>
                        <a:rPr b="0"/>
                        <a:t>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b="1" sz="2000">
                          <a:latin typeface="Times New Roman"/>
                          <a:ea typeface="Times New Roman"/>
                          <a:cs typeface="Times New Roman"/>
                          <a:sym typeface="Times New Roman"/>
                        </a:defRPr>
                      </a:pPr>
                      <a:r>
                        <a:t>Attributes</a:t>
                      </a:r>
                      <a:r>
                        <a:rPr b="0"/>
                        <a:t> </a:t>
                      </a:r>
                    </a:p>
                  </a:txBody>
                  <a:tcPr marL="45720" marR="45720" marT="45720" marB="45720" anchor="ctr" anchorCtr="0" horzOverflow="overflow">
                    <a:lnL w="12700">
                      <a:miter lim="400000"/>
                    </a:lnL>
                    <a:lnR w="12700">
                      <a:miter lim="400000"/>
                    </a:lnR>
                    <a:lnT w="12700">
                      <a:miter lim="400000"/>
                    </a:lnT>
                    <a:lnB w="12700">
                      <a:miter lim="400000"/>
                    </a:lnB>
                    <a:noFill/>
                  </a:tcPr>
                </a:tc>
              </a:tr>
              <a:tr h="348490">
                <a:tc>
                  <a:txBody>
                    <a:bodyPr/>
                    <a:lstStyle/>
                    <a:p>
                      <a:pPr algn="ctr">
                        <a:lnSpc>
                          <a:spcPts val="1300"/>
                        </a:lnSpc>
                        <a:defRPr sz="1800"/>
                      </a:pPr>
                      <a:r>
                        <a:rPr sz="2000">
                          <a:latin typeface="Times New Roman"/>
                          <a:ea typeface="Times New Roman"/>
                          <a:cs typeface="Times New Roman"/>
                          <a:sym typeface="Times New Roman"/>
                        </a:rPr>
                        <a:t>1 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sz="2000">
                          <a:latin typeface="Times New Roman"/>
                          <a:ea typeface="Times New Roman"/>
                          <a:cs typeface="Times New Roman"/>
                          <a:sym typeface="Times New Roman"/>
                        </a:rPr>
                        <a:t>7,6 </a:t>
                      </a:r>
                    </a:p>
                  </a:txBody>
                  <a:tcPr marL="45720" marR="45720" marT="45720" marB="45720" anchor="ctr" anchorCtr="0" horzOverflow="overflow">
                    <a:lnL w="12700">
                      <a:miter lim="400000"/>
                    </a:lnL>
                    <a:lnR w="12700">
                      <a:miter lim="400000"/>
                    </a:lnR>
                    <a:lnT w="12700">
                      <a:miter lim="400000"/>
                    </a:lnT>
                    <a:lnB w="12700">
                      <a:miter lim="400000"/>
                    </a:lnB>
                    <a:noFill/>
                  </a:tcPr>
                </a:tc>
              </a:tr>
              <a:tr h="394956">
                <a:tc>
                  <a:txBody>
                    <a:bodyPr/>
                    <a:lstStyle/>
                    <a:p>
                      <a:pPr algn="ctr">
                        <a:lnSpc>
                          <a:spcPts val="1300"/>
                        </a:lnSpc>
                        <a:defRPr sz="1800"/>
                      </a:pPr>
                      <a:r>
                        <a:rPr sz="2000">
                          <a:latin typeface="Times New Roman"/>
                          <a:ea typeface="Times New Roman"/>
                          <a:cs typeface="Times New Roman"/>
                          <a:sym typeface="Times New Roman"/>
                        </a:rPr>
                        <a:t>2 </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ctr">
                        <a:lnSpc>
                          <a:spcPts val="1300"/>
                        </a:lnSpc>
                        <a:defRPr sz="1800"/>
                      </a:pPr>
                      <a:r>
                        <a:rPr sz="2000">
                          <a:latin typeface="Times New Roman"/>
                          <a:ea typeface="Times New Roman"/>
                          <a:cs typeface="Times New Roman"/>
                          <a:sym typeface="Times New Roman"/>
                        </a:rPr>
                        <a:t>7,2 </a:t>
                      </a:r>
                    </a:p>
                  </a:txBody>
                  <a:tcPr marL="45720" marR="45720" marT="45720" marB="45720" anchor="ctr" anchorCtr="0" horzOverflow="overflow">
                    <a:lnL w="12700">
                      <a:miter lim="400000"/>
                    </a:lnL>
                    <a:lnR w="12700">
                      <a:miter lim="400000"/>
                    </a:lnR>
                    <a:lnT w="12700">
                      <a:miter lim="400000"/>
                    </a:lnT>
                    <a:lnB w="12700">
                      <a:miter lim="400000"/>
                    </a:lnB>
                    <a:no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0" name="Picture 4" descr="Picture 4"/>
          <p:cNvPicPr>
            <a:picLocks noChangeAspect="1"/>
          </p:cNvPicPr>
          <p:nvPr/>
        </p:nvPicPr>
        <p:blipFill>
          <a:blip r:embed="rId2">
            <a:alphaModFix amt="40000"/>
            <a:extLst/>
          </a:blip>
          <a:srcRect l="0" t="25000" r="0" b="0"/>
          <a:stretch>
            <a:fillRect/>
          </a:stretch>
        </p:blipFill>
        <p:spPr>
          <a:xfrm>
            <a:off x="19" y="10"/>
            <a:ext cx="12191981" cy="6857990"/>
          </a:xfrm>
          <a:prstGeom prst="rect">
            <a:avLst/>
          </a:prstGeom>
          <a:ln w="12700">
            <a:miter lim="400000"/>
          </a:ln>
        </p:spPr>
      </p:pic>
      <p:sp>
        <p:nvSpPr>
          <p:cNvPr id="121" name="Title 1"/>
          <p:cNvSpPr txBox="1"/>
          <p:nvPr>
            <p:ph type="title"/>
          </p:nvPr>
        </p:nvSpPr>
        <p:spPr>
          <a:xfrm>
            <a:off x="1817648" y="250036"/>
            <a:ext cx="7841168" cy="1325563"/>
          </a:xfrm>
          <a:prstGeom prst="rect">
            <a:avLst/>
          </a:prstGeom>
        </p:spPr>
        <p:txBody>
          <a:bodyPr/>
          <a:lstStyle>
            <a:lvl1pPr algn="ctr">
              <a:defRPr sz="4000" u="sng">
                <a:solidFill>
                  <a:srgbClr val="104862"/>
                </a:solidFill>
                <a:latin typeface="Times New Roman"/>
                <a:ea typeface="Times New Roman"/>
                <a:cs typeface="Times New Roman"/>
                <a:sym typeface="Times New Roman"/>
              </a:defRPr>
            </a:lvl1pPr>
          </a:lstStyle>
          <a:p>
            <a:pPr/>
            <a:r>
              <a:t>Modeling</a:t>
            </a:r>
          </a:p>
        </p:txBody>
      </p:sp>
      <p:sp>
        <p:nvSpPr>
          <p:cNvPr id="122" name="Content Placeholder 31"/>
          <p:cNvSpPr txBox="1"/>
          <p:nvPr>
            <p:ph type="body" sz="half" idx="1"/>
          </p:nvPr>
        </p:nvSpPr>
        <p:spPr>
          <a:xfrm>
            <a:off x="838200" y="1825625"/>
            <a:ext cx="5660796" cy="4524162"/>
          </a:xfrm>
          <a:prstGeom prst="rect">
            <a:avLst/>
          </a:prstGeom>
        </p:spPr>
        <p:txBody>
          <a:bodyPr/>
          <a:lstStyle/>
          <a:p>
            <a:pPr>
              <a:defRPr>
                <a:latin typeface="Times New Roman"/>
                <a:ea typeface="Times New Roman"/>
                <a:cs typeface="Times New Roman"/>
                <a:sym typeface="Times New Roman"/>
              </a:defRPr>
            </a:pPr>
            <a:r>
              <a:t>Target classes:</a:t>
            </a:r>
          </a:p>
          <a:p>
            <a:pPr lvl="1" marL="685800" indent="-228600">
              <a:spcBef>
                <a:spcPts val="500"/>
              </a:spcBef>
              <a:buFont typeface="Courier New"/>
              <a:buChar char="o"/>
              <a:defRPr sz="2400">
                <a:latin typeface="Times New Roman"/>
                <a:ea typeface="Times New Roman"/>
                <a:cs typeface="Times New Roman"/>
                <a:sym typeface="Times New Roman"/>
              </a:defRPr>
            </a:pPr>
            <a:r>
              <a:t>Very High/High: 1</a:t>
            </a:r>
          </a:p>
          <a:p>
            <a:pPr lvl="1" marL="685800" indent="-228600">
              <a:spcBef>
                <a:spcPts val="500"/>
              </a:spcBef>
              <a:buFont typeface="Courier New"/>
              <a:buChar char="o"/>
              <a:defRPr sz="2400">
                <a:latin typeface="Times New Roman"/>
                <a:ea typeface="Times New Roman"/>
                <a:cs typeface="Times New Roman"/>
                <a:sym typeface="Times New Roman"/>
              </a:defRPr>
            </a:pPr>
            <a:r>
              <a:t>Medium/Low/Very Low: 0</a:t>
            </a:r>
          </a:p>
          <a:p>
            <a:pPr>
              <a:defRPr>
                <a:latin typeface="Times New Roman"/>
                <a:ea typeface="Times New Roman"/>
                <a:cs typeface="Times New Roman"/>
                <a:sym typeface="Times New Roman"/>
              </a:defRPr>
            </a:pPr>
            <a:r>
              <a:t>Implemented XGBoost modeling</a:t>
            </a:r>
          </a:p>
          <a:p>
            <a:pPr>
              <a:defRPr>
                <a:latin typeface="Times New Roman"/>
                <a:ea typeface="Times New Roman"/>
                <a:cs typeface="Times New Roman"/>
                <a:sym typeface="Times New Roman"/>
              </a:defRPr>
            </a:pPr>
            <a:r>
              <a:t>Highest accuracy achieved is 88%</a:t>
            </a:r>
          </a:p>
          <a:p>
            <a:pPr>
              <a:defRPr>
                <a:latin typeface="Times New Roman"/>
                <a:ea typeface="Times New Roman"/>
                <a:cs typeface="Times New Roman"/>
                <a:sym typeface="Times New Roman"/>
              </a:defRPr>
            </a:pPr>
            <a:r>
              <a:t>Being correctness: 92% </a:t>
            </a:r>
            <a:r>
              <a:rPr i="1"/>
              <a:t>(precision)</a:t>
            </a:r>
            <a:r>
              <a:t> </a:t>
            </a:r>
          </a:p>
        </p:txBody>
      </p:sp>
      <p:pic>
        <p:nvPicPr>
          <p:cNvPr id="123" name="Picture 2" descr="Picture 2"/>
          <p:cNvPicPr>
            <a:picLocks noChangeAspect="1"/>
          </p:cNvPicPr>
          <p:nvPr/>
        </p:nvPicPr>
        <p:blipFill>
          <a:blip r:embed="rId3">
            <a:extLst/>
          </a:blip>
          <a:stretch>
            <a:fillRect/>
          </a:stretch>
        </p:blipFill>
        <p:spPr>
          <a:xfrm>
            <a:off x="6502400" y="1578505"/>
            <a:ext cx="5029200" cy="3933826"/>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5" name="Picture 4" descr="Picture 4"/>
          <p:cNvPicPr>
            <a:picLocks noChangeAspect="1"/>
          </p:cNvPicPr>
          <p:nvPr/>
        </p:nvPicPr>
        <p:blipFill>
          <a:blip r:embed="rId2">
            <a:alphaModFix amt="40000"/>
            <a:extLst/>
          </a:blip>
          <a:srcRect l="0" t="25000" r="0" b="0"/>
          <a:stretch>
            <a:fillRect/>
          </a:stretch>
        </p:blipFill>
        <p:spPr>
          <a:xfrm>
            <a:off x="19" y="10"/>
            <a:ext cx="12191981" cy="6857990"/>
          </a:xfrm>
          <a:prstGeom prst="rect">
            <a:avLst/>
          </a:prstGeom>
          <a:ln w="12700">
            <a:miter lim="400000"/>
          </a:ln>
        </p:spPr>
      </p:pic>
      <p:sp>
        <p:nvSpPr>
          <p:cNvPr id="126" name="Title 1"/>
          <p:cNvSpPr txBox="1"/>
          <p:nvPr>
            <p:ph type="title"/>
          </p:nvPr>
        </p:nvSpPr>
        <p:spPr>
          <a:xfrm>
            <a:off x="-103227" y="-88631"/>
            <a:ext cx="7841168" cy="1325563"/>
          </a:xfrm>
          <a:prstGeom prst="rect">
            <a:avLst/>
          </a:prstGeom>
        </p:spPr>
        <p:txBody>
          <a:bodyPr/>
          <a:lstStyle>
            <a:lvl1pPr algn="ctr">
              <a:defRPr sz="4000">
                <a:solidFill>
                  <a:srgbClr val="104862"/>
                </a:solidFill>
                <a:latin typeface="Times New Roman"/>
                <a:ea typeface="Times New Roman"/>
                <a:cs typeface="Times New Roman"/>
                <a:sym typeface="Times New Roman"/>
              </a:defRPr>
            </a:lvl1pPr>
          </a:lstStyle>
          <a:p>
            <a:pPr/>
            <a:r>
              <a:t>Modeling Results Interpretations</a:t>
            </a:r>
          </a:p>
        </p:txBody>
      </p:sp>
      <p:sp>
        <p:nvSpPr>
          <p:cNvPr id="127" name="Content Placeholder 31"/>
          <p:cNvSpPr txBox="1"/>
          <p:nvPr>
            <p:ph type="body" idx="1"/>
          </p:nvPr>
        </p:nvSpPr>
        <p:spPr>
          <a:xfrm>
            <a:off x="354979" y="1026841"/>
            <a:ext cx="6338648" cy="5677745"/>
          </a:xfrm>
          <a:prstGeom prst="rect">
            <a:avLst/>
          </a:prstGeom>
        </p:spPr>
        <p:txBody>
          <a:bodyPr/>
          <a:lstStyle/>
          <a:p>
            <a:pPr>
              <a:defRPr sz="2400">
                <a:latin typeface="Times New Roman"/>
                <a:ea typeface="Times New Roman"/>
                <a:cs typeface="Times New Roman"/>
                <a:sym typeface="Times New Roman"/>
              </a:defRPr>
            </a:pPr>
            <a:r>
              <a:t>​Key truck configuration attributes influencing claim classification include “Attribute 6,” “Attribute 5,” and “Attribute 2.”</a:t>
            </a:r>
          </a:p>
          <a:p>
            <a:pPr>
              <a:defRPr sz="2400">
                <a:latin typeface="Times New Roman"/>
                <a:ea typeface="Times New Roman"/>
                <a:cs typeface="Times New Roman"/>
                <a:sym typeface="Times New Roman"/>
              </a:defRPr>
            </a:pPr>
            <a:r>
              <a:t>“Option code 283” in “Attribute 6” is critical, as its presence is linked to higher claim costs.</a:t>
            </a:r>
          </a:p>
          <a:p>
            <a:pPr>
              <a:defRPr sz="2400">
                <a:latin typeface="Times New Roman"/>
                <a:ea typeface="Times New Roman"/>
                <a:cs typeface="Times New Roman"/>
                <a:sym typeface="Times New Roman"/>
              </a:defRPr>
            </a:pPr>
            <a:r>
              <a:t>The chart illustrates the relationship between claim costs and top feature attributes, with red indicating high claim costs and blue for lower claims.</a:t>
            </a:r>
          </a:p>
          <a:p>
            <a:pPr>
              <a:defRPr sz="2400">
                <a:latin typeface="Times New Roman"/>
                <a:ea typeface="Times New Roman"/>
                <a:cs typeface="Times New Roman"/>
                <a:sym typeface="Times New Roman"/>
              </a:defRPr>
            </a:pPr>
            <a:r>
              <a:t>Option Code “Attribute 6_283” correlates with higher claims, while the absence of “Option code 284” in “Attribute 6” aligns with lower claims.</a:t>
            </a:r>
          </a:p>
        </p:txBody>
      </p:sp>
      <p:pic>
        <p:nvPicPr>
          <p:cNvPr id="128" name="Picture 2" descr="Picture 2"/>
          <p:cNvPicPr>
            <a:picLocks noChangeAspect="1"/>
          </p:cNvPicPr>
          <p:nvPr/>
        </p:nvPicPr>
        <p:blipFill>
          <a:blip r:embed="rId3">
            <a:extLst/>
          </a:blip>
          <a:stretch>
            <a:fillRect/>
          </a:stretch>
        </p:blipFill>
        <p:spPr>
          <a:xfrm>
            <a:off x="7361922" y="0"/>
            <a:ext cx="4830709" cy="6858000"/>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Content Placeholder 2"/>
          <p:cNvSpPr txBox="1"/>
          <p:nvPr>
            <p:ph type="body" idx="1"/>
          </p:nvPr>
        </p:nvSpPr>
        <p:spPr>
          <a:xfrm>
            <a:off x="838200" y="1756353"/>
            <a:ext cx="10917381" cy="4877811"/>
          </a:xfrm>
          <a:prstGeom prst="rect">
            <a:avLst/>
          </a:prstGeom>
        </p:spPr>
        <p:txBody>
          <a:bodyPr/>
          <a:lstStyle/>
          <a:p>
            <a:pPr>
              <a:defRPr b="1" sz="2000" u="sng">
                <a:latin typeface="Times New Roman"/>
                <a:ea typeface="Times New Roman"/>
                <a:cs typeface="Times New Roman"/>
                <a:sym typeface="Times New Roman"/>
              </a:defRPr>
            </a:pPr>
            <a:r>
              <a:t>Targeted Quality Improvements</a:t>
            </a:r>
            <a:r>
              <a:rPr u="none"/>
              <a:t>: </a:t>
            </a:r>
            <a:r>
              <a:rPr b="0" u="none"/>
              <a:t>Attributes with very low p-values (such as Attributes 6 and 7, or Attributes 2 and 7) indicate significant interactions that likely drive higher warranty costs. By focusing on these attribute pairs, the company can address specific quality issues in the design or manufacturing of these components, leading to reduced claims and lower costs.</a:t>
            </a:r>
            <a:endParaRPr b="0" u="none"/>
          </a:p>
          <a:p>
            <a:pPr marL="0" indent="0">
              <a:buSzTx/>
              <a:buNone/>
              <a:defRPr sz="2000">
                <a:latin typeface="Times New Roman"/>
                <a:ea typeface="Times New Roman"/>
                <a:cs typeface="Times New Roman"/>
                <a:sym typeface="Times New Roman"/>
              </a:defRPr>
            </a:pPr>
          </a:p>
          <a:p>
            <a:pPr>
              <a:defRPr b="1" sz="2000" u="sng">
                <a:latin typeface="Times New Roman"/>
                <a:ea typeface="Times New Roman"/>
                <a:cs typeface="Times New Roman"/>
                <a:sym typeface="Times New Roman"/>
              </a:defRPr>
            </a:pPr>
            <a:r>
              <a:t>Optimized Product Configurations</a:t>
            </a:r>
            <a:r>
              <a:rPr u="none"/>
              <a:t>: </a:t>
            </a:r>
            <a:r>
              <a:rPr b="0" u="none"/>
              <a:t>Some attribute pairs, such as (Attribute 1, Attribute 6) and (Attribute 2, Attribute 5), also show strong associations with higher claim rates. For future products, the company could limit or offer alternative configurations for these specific attribute combinations, which would reduce the likelihood of costly warranty issues in the field.</a:t>
            </a:r>
            <a:endParaRPr b="0" u="none"/>
          </a:p>
          <a:p>
            <a:pPr marL="0" indent="0">
              <a:buSzTx/>
              <a:buNone/>
              <a:defRPr sz="2000">
                <a:latin typeface="Times New Roman"/>
                <a:ea typeface="Times New Roman"/>
                <a:cs typeface="Times New Roman"/>
                <a:sym typeface="Times New Roman"/>
              </a:defRPr>
            </a:pPr>
          </a:p>
          <a:p>
            <a:pPr>
              <a:defRPr b="1" sz="2000" u="sng">
                <a:latin typeface="Times New Roman"/>
                <a:ea typeface="Times New Roman"/>
                <a:cs typeface="Times New Roman"/>
                <a:sym typeface="Times New Roman"/>
              </a:defRPr>
            </a:pPr>
            <a:r>
              <a:t>Informed Customer Recommendations</a:t>
            </a:r>
            <a:r>
              <a:rPr u="none"/>
              <a:t>:</a:t>
            </a:r>
            <a:r>
              <a:rPr b="0" u="none"/>
              <a:t> Insights from these attribute combinations could also be shared with customers in fleet or bulk sales. The company could advise customers on product configurations that are less likely to incur high warranty costs, enhancing customer trust and helping to position the company as a proactive partner in managing long-term vehicle reliability.</a:t>
            </a:r>
          </a:p>
        </p:txBody>
      </p:sp>
      <p:sp>
        <p:nvSpPr>
          <p:cNvPr id="131" name="Title 1"/>
          <p:cNvSpPr txBox="1"/>
          <p:nvPr/>
        </p:nvSpPr>
        <p:spPr>
          <a:xfrm>
            <a:off x="2464278" y="537262"/>
            <a:ext cx="6176787" cy="73197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gn="ctr">
              <a:lnSpc>
                <a:spcPct val="90000"/>
              </a:lnSpc>
              <a:defRPr sz="4000">
                <a:solidFill>
                  <a:srgbClr val="104862"/>
                </a:solidFill>
                <a:latin typeface="Times New Roman"/>
                <a:ea typeface="Times New Roman"/>
                <a:cs typeface="Times New Roman"/>
                <a:sym typeface="Times New Roman"/>
              </a:defRPr>
            </a:lvl1pPr>
          </a:lstStyle>
          <a:p>
            <a:pPr/>
            <a:r>
              <a:t>Key Takeaways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Rectangle 2068"/>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grpSp>
        <p:nvGrpSpPr>
          <p:cNvPr id="136" name="Group 2069"/>
          <p:cNvGrpSpPr/>
          <p:nvPr/>
        </p:nvGrpSpPr>
        <p:grpSpPr>
          <a:xfrm>
            <a:off x="10741136" y="-454724"/>
            <a:ext cx="2323655" cy="2323657"/>
            <a:chOff x="0" y="0"/>
            <a:chExt cx="2323654" cy="2323656"/>
          </a:xfrm>
        </p:grpSpPr>
        <p:sp>
          <p:nvSpPr>
            <p:cNvPr id="134" name="Freeform: Shape 2057"/>
            <p:cNvSpPr/>
            <p:nvPr/>
          </p:nvSpPr>
          <p:spPr>
            <a:xfrm flipH="1" rot="18900000">
              <a:off x="457081" y="223500"/>
              <a:ext cx="1409492" cy="18766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402"/>
                  </a:moveTo>
                  <a:lnTo>
                    <a:pt x="9855" y="0"/>
                  </a:lnTo>
                  <a:lnTo>
                    <a:pt x="21600" y="0"/>
                  </a:lnTo>
                  <a:lnTo>
                    <a:pt x="21600" y="21600"/>
                  </a:lnTo>
                  <a:lnTo>
                    <a:pt x="18904" y="21600"/>
                  </a:lnTo>
                  <a:close/>
                </a:path>
              </a:pathLst>
            </a:custGeom>
            <a:solidFill>
              <a:schemeClr val="accent1">
                <a:alpha val="30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35" name="Rectangle 2070"/>
            <p:cNvSpPr/>
            <p:nvPr/>
          </p:nvSpPr>
          <p:spPr>
            <a:xfrm flipH="1" rot="18900000">
              <a:off x="664521" y="1737511"/>
              <a:ext cx="485579" cy="485579"/>
            </a:xfrm>
            <a:prstGeom prst="rect">
              <a:avLst/>
            </a:prstGeom>
            <a:solidFill>
              <a:schemeClr val="accent1">
                <a:alpha val="30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37" name="Rectangle 2071"/>
          <p:cNvSpPr/>
          <p:nvPr/>
        </p:nvSpPr>
        <p:spPr>
          <a:xfrm rot="2700000">
            <a:off x="2737195" y="6033665"/>
            <a:ext cx="645369" cy="645369"/>
          </a:xfrm>
          <a:prstGeom prst="rect">
            <a:avLst/>
          </a:prstGeom>
          <a:solidFill>
            <a:schemeClr val="accent4">
              <a:alpha val="30000"/>
            </a:schemeClr>
          </a:solidFill>
          <a:ln w="12700">
            <a:miter lim="400000"/>
          </a:ln>
        </p:spPr>
        <p:txBody>
          <a:bodyPr lIns="45719" rIns="45719" anchor="ctr"/>
          <a:lstStyle/>
          <a:p>
            <a:pPr algn="ctr">
              <a:defRPr>
                <a:solidFill>
                  <a:srgbClr val="FFFFFF"/>
                </a:solidFill>
              </a:defRPr>
            </a:pPr>
          </a:p>
        </p:txBody>
      </p:sp>
      <p:sp>
        <p:nvSpPr>
          <p:cNvPr id="138" name="Isosceles Triangle 2072"/>
          <p:cNvSpPr/>
          <p:nvPr/>
        </p:nvSpPr>
        <p:spPr>
          <a:xfrm>
            <a:off x="1343436" y="5721108"/>
            <a:ext cx="2261965" cy="1136892"/>
          </a:xfrm>
          <a:prstGeom prst="triangle">
            <a:avLst/>
          </a:prstGeom>
          <a:solidFill>
            <a:schemeClr val="accent4">
              <a:alpha val="30000"/>
            </a:schemeClr>
          </a:solidFill>
          <a:ln w="12700">
            <a:miter lim="400000"/>
          </a:ln>
        </p:spPr>
        <p:txBody>
          <a:bodyPr lIns="45719" rIns="45719" anchor="ctr"/>
          <a:lstStyle/>
          <a:p>
            <a:pPr algn="ctr">
              <a:defRPr>
                <a:solidFill>
                  <a:srgbClr val="FFFFFF"/>
                </a:solidFill>
              </a:defRPr>
            </a:pPr>
          </a:p>
        </p:txBody>
      </p:sp>
      <p:pic>
        <p:nvPicPr>
          <p:cNvPr id="139" name="Picture 2" descr="Picture 2"/>
          <p:cNvPicPr>
            <a:picLocks noChangeAspect="1"/>
          </p:cNvPicPr>
          <p:nvPr/>
        </p:nvPicPr>
        <p:blipFill>
          <a:blip r:embed="rId2">
            <a:extLst/>
          </a:blip>
          <a:stretch>
            <a:fillRect/>
          </a:stretch>
        </p:blipFill>
        <p:spPr>
          <a:xfrm>
            <a:off x="643467" y="1425194"/>
            <a:ext cx="10905067" cy="400761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